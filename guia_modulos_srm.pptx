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3474720" cy="219456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002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240"/>
                </a:solidFill>
              </a:rPr>
              <a:t>GUÍA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D1240"/>
                </a:solidFill>
              </a:rPr>
              <a:t>ADMINISTRACIÓN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240"/>
                </a:solidFill>
              </a:rPr>
              <a:t>Sistema SRM · Iglesia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AECF"/>
                </a:solidFill>
              </a:rPr>
              <a:t>Módulos Nuevos: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2057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Eventos Especiales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840480" y="2743200"/>
            <a:ext cx="5029200" cy="18288"/>
          </a:xfrm>
          <a:prstGeom prst="rect">
            <a:avLst/>
          </a:prstGeom>
          <a:solidFill>
            <a:srgbClr val="2D3B8A"/>
          </a:solidFill>
          <a:ln w="12700">
            <a:solidFill>
              <a:srgbClr val="2D3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8346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Biblioteca de Documentos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40"/>
                </a:solidFill>
              </a:rPr>
              <a:t>Capacitación para Administradores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Contenido de esta guía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960C"/>
                </a:solidFill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78308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240"/>
                </a:solidFill>
              </a:rPr>
              <a:t>Eventos Especiales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Qué son, cómo configurarlos y gestionar colaboradores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280160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73152" cy="128016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71B7D"/>
                </a:solidFill>
              </a:rPr>
              <a:t>02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783080" y="2788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240"/>
                </a:solidFill>
              </a:rPr>
              <a:t>Biblioteca de Documentos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3291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Crear, asignar, proteger y rastrear documentos para voluntarios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B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960C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828800" y="731520"/>
            <a:ext cx="54864" cy="10972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7772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Eventos Especiales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F"/>
                </a:solidFill>
              </a:rPr>
              <a:t>Configuración · Colaboradores · Panel de estadísticas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EVENTOS ESPECIALES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¿Qué es un Evento Especial?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solidFill>
            <a:srgbClr val="FEF3C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240"/>
                </a:solidFill>
              </a:rPr>
              <a:t>Un Evento Especial es cualquier evento que, además del registro habitual de personas, requiere la participación de Colaboradores / Voluntarios que deben aceptar documentos de compromiso antes de poder servir.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690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71B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4069080" cy="475488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Evento Normal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Registro de asistentes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Control de cupos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Inscripción de matrimonios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737360"/>
            <a:ext cx="40690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737360"/>
            <a:ext cx="4069080" cy="475488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Evento Especial 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304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Todo lo anterior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Registro de Colaboradores / Voluntarios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310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Aceptación de documentos con fecha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D1240"/>
                </a:solidFill>
              </a:rPr>
              <a:t>Panel de estadísticas ampliado con tarjeta de Colaboradores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EVENTOS ESPECIALES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Cómo marcar un evento como Especial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96012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14400"/>
            <a:ext cx="347472" cy="34747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88696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Abrir el evento en el panel de administración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7726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Ir al listado de Eventos → botón editar (ícono lápiz) del evento deseado.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28800"/>
            <a:ext cx="64008" cy="96012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93852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Activar el interruptor "Evento Especial"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304288"/>
            <a:ext cx="7726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 la parte superior del formulario de edición, marcar la casilla "Evento Especial". El evento quedará marcado con estrella ★ en el listado.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64008" cy="96012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990088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Guardar los cambios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355848"/>
            <a:ext cx="7726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Hacer clic en Guardar. El evento aparecerá con borde dorado y etiqueta ★ Especial en la lista de eventos.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59352"/>
            <a:ext cx="8138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 Un evento puede cambiarse a Especial en cualquier momento, incluso después de haber inscritos. Los inscritos previos no se ven afectados.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EVENTOS ESPECIALES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Identificación visual en la lista de Eventos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Los eventos especiales se distinguen a simple vista en el listado: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Detalle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280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Tipo Evento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F. Inscripción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F. Evento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Cupos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4592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240"/>
                </a:solidFill>
              </a:rPr>
              <a:t>Retiro Adultos Jóvenes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Retiro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01/06/2026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08/06/2026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30 / 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1755648"/>
            <a:ext cx="1463040" cy="2926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755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VIGENTE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148840"/>
            <a:ext cx="8412480" cy="566928"/>
          </a:xfrm>
          <a:prstGeom prst="rect">
            <a:avLst/>
          </a:prstGeom>
          <a:solidFill>
            <a:srgbClr val="FFFDF4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148840"/>
            <a:ext cx="64008" cy="566928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267712"/>
            <a:ext cx="822960" cy="256032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67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240"/>
                </a:solidFill>
              </a:rPr>
              <a:t>★ Especial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17320" y="221284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240"/>
                </a:solidFill>
              </a:rPr>
              <a:t>Congreso Familiar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8840" y="2212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Congreso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15/07/2026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2128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20/07/2026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22128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/ 80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267712"/>
            <a:ext cx="1463040" cy="2926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22677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VIGENTE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898648"/>
            <a:ext cx="8412480" cy="868680"/>
          </a:xfrm>
          <a:prstGeom prst="rect">
            <a:avLst/>
          </a:prstGeom>
          <a:solidFill>
            <a:srgbClr val="FEF3C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240"/>
                </a:solidFill>
              </a:rPr>
              <a:t>Indicadores visuales de un Evento Especial: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2461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240"/>
                </a:solidFill>
              </a:rPr>
              <a:t>Borde dorado a la izquierda de la fila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41985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240"/>
                </a:solidFill>
              </a:rPr>
              <a:t>Fondo amarillo muy suave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3593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240"/>
                </a:solidFill>
              </a:rPr>
              <a:t>Etiqueta ★ Especial de color dorado junto al nombre del evento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EVENTOS ESPECIALES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Gestión de Colaboradores en Eventos Especiales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7D"/>
                </a:solidFill>
              </a:rPr>
              <a:t>¿Qué es un Colaborador?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240"/>
                </a:solidFill>
              </a:rPr>
              <a:t>Persona que, al registrarse en un Evento Especial, acepta servir como voluntario. Debe ser mayor de 18 años y aceptar todos los documentos de compromiso configurados para ese evento.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B7D"/>
                </a:solidFill>
              </a:rPr>
              <a:t>Validaciones automáticas del sistema: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🔞  Edad mínima de 18 años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33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sistema bloquea el registro como colaborador si la persona es menor de edad. El formulario oculta la sección de voluntario automáticamente.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54096"/>
            <a:ext cx="64008" cy="658368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📄  Todos los documentos requeridos deben aceptarse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 el evento tiene documentos de compromiso configurados, la persona debe marcar todos antes de poder completar el registro.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80390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03904"/>
            <a:ext cx="64008" cy="658368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📅  Selección de fecha de participación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 un documento tiene dos fechas disponibles, el colaborador debe elegir en cuál de las dos puede participar.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EVENTOS ESPECIALES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Panel de Estadísticas – Tarjeta de Colaboradores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240"/>
                </a:solidFill>
              </a:rPr>
              <a:t>En la sección de Personas Inscritas de un Evento Especial, el panel muestra una tarjeta adicional con el conteo de colaboradores: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724912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47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BCCEE"/>
                </a:solidFill>
              </a:rPr>
              <a:t>Inscritos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2724912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CCEE"/>
                </a:solidFill>
              </a:rPr>
              <a:t>Total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371600"/>
            <a:ext cx="2724912" cy="13716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0156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01568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01568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BCCEE"/>
                </a:solidFill>
              </a:rPr>
              <a:t>Matrimonios Compl.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4408" y="2697480"/>
            <a:ext cx="2724912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CCEE"/>
                </a:solidFill>
              </a:rPr>
              <a:t>Completos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53912" y="1371600"/>
            <a:ext cx="2724912" cy="137160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107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91072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91072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BCCEE"/>
                </a:solidFill>
              </a:rPr>
              <a:t>Colaboradores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53912" y="2697480"/>
            <a:ext cx="2724912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27340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BCCEE"/>
                </a:solidFill>
              </a:rPr>
              <a:t>Solo Especiales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8412480" cy="566928"/>
          </a:xfrm>
          <a:prstGeom prst="rect">
            <a:avLst/>
          </a:prstGeom>
          <a:solidFill>
            <a:srgbClr val="FEF3C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5351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240"/>
                </a:solidFill>
              </a:rPr>
              <a:t>★  La tarjeta de Colaboradores SOLO aparece en Eventos Especiales. En eventos normales esta tarjeta no es visible.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B7D"/>
                </a:solidFill>
              </a:rPr>
              <a:t>¿Cómo ver el detalle de un colaborador?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240"/>
                </a:solidFill>
              </a:rPr>
              <a:t>1.  En la tabla de inscritos, hacer clic en el nombre de la persona.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240"/>
                </a:solidFill>
              </a:rPr>
              <a:t>2.  En el modal de detalle, ver la sección "Colaborador / Voluntario" que muestra los documentos aceptados, fechas y fecha de aceptación.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240"/>
                </a:solidFill>
              </a:rPr>
              <a:t>3.  Para editar, usar el botón Editar del modal.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960C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1828800" y="731520"/>
            <a:ext cx="54864" cy="10972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7772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Biblioteca de Documentos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F"/>
                </a:solidFill>
              </a:rPr>
              <a:t>Crear · Asignar · Gestionar · Rastrear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BIBLIOTECA DE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¿Qué es la Biblioteca de Documentos?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240"/>
                </a:solidFill>
              </a:rPr>
              <a:t>La Biblioteca es un repositorio global de documentos de compromiso (reglamentos, autorizaciones, políticas) que pueden asignarse a uno o varios Eventos Especiales. Los colaboradores los leen y aceptan durante su registro.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B7D"/>
                </a:solidFill>
              </a:rPr>
              <a:t>Conceptos clave: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84832"/>
            <a:ext cx="64008" cy="100584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762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B7D"/>
                </a:solidFill>
              </a:rPr>
              <a:t>Global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420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documento creado en la biblioteca está disponible para todos los eventos. No se duplica por evento.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84832"/>
            <a:ext cx="64008" cy="100584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762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60C"/>
                </a:solidFill>
              </a:rPr>
              <a:t>Reutilizable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54203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mismo documento puede asignarse a múltiples eventos. Si se actualiza el documento, todos los eventos que lo usen verán la versión nueva.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73552"/>
            <a:ext cx="64008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649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Protegido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se puede eliminar un documento que esté asignado a algún evento activo.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27355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73552"/>
            <a:ext cx="64008" cy="10058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3649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754"/>
                </a:solidFill>
              </a:rPr>
              <a:t>Trazable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7307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sistema registra quién creó el documento y quién fue el último en editarlo.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BIBLIOTECA DE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Cómo acceder a la Biblioteca de Documentos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 biblioteca es accesible desde dos lugares: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64008" cy="123444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98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13167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240"/>
                </a:solidFill>
              </a:rPr>
              <a:t>Opción 1: Menú principal del sistema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7556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 el menú lateral izquierdo, buscar la opción "Biblioteca de Documentos". Desde aquí se crean, editan y eliminan documentos de forma global.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70048"/>
            <a:ext cx="64008" cy="123444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25880" y="27797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240"/>
                </a:solidFill>
              </a:rPr>
              <a:t>Opción 2: Desde el formulario de un Evento Especial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21868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 editar un evento especial, en la pestaña o sección "Documentos", se puede ver la lista de documentos disponibles y asignarlos al evento con un clic.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8138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🔑  Solo los usuarios con perfil de Administrador tienen acceso a la Biblioteca de Documentos. Los colaboradores únicamente ven y aceptan los documentos asignados a su evento.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BIBLIOTECA DE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Crear un Documento en la Biblioteca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8686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14400"/>
            <a:ext cx="347472" cy="34747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88696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Clic en "Nuevo Documento"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Desde la Biblioteca, botón verde en la esquina superior derecha.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37360"/>
            <a:ext cx="64008" cy="8686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8470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Completar los campos requeridos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212848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Título (obligatorio), descripción, estado (ACTIVO / INACTIVO), y adjuntar el archivo PDF o Word.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97480"/>
            <a:ext cx="64008" cy="86868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834640"/>
            <a:ext cx="347472" cy="347472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8072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Configurar fechas (opcional)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172968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 el documento requiere que el colaborador elija una fecha, activar "Requiere fecha" y definir Fecha 1 y / o Fecha 2.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64008" cy="8686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76732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240"/>
                </a:solidFill>
              </a:rPr>
              <a:t>Guardar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133088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El documento queda disponible para asignarse a cualquier evento especial.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77724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777240"/>
            <a:ext cx="2788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777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Campos del formulario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1261872"/>
            <a:ext cx="2788920" cy="384048"/>
          </a:xfrm>
          <a:prstGeom prst="rect">
            <a:avLst/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298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Título *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98080" y="1298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Texto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Descripción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98080" y="1682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Texto largo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89320" y="2029968"/>
            <a:ext cx="2788920" cy="384048"/>
          </a:xfrm>
          <a:prstGeom prst="rect">
            <a:avLst/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2066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Estado *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9808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ACTIVO / INACTIVO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80760" y="2450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Archivo *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98080" y="2450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PDF o Word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9320" y="2798064"/>
            <a:ext cx="2788920" cy="384048"/>
          </a:xfrm>
          <a:prstGeom prst="rect">
            <a:avLst/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2834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Requiere Fecha 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98080" y="2834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Checkbox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80760" y="3218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Fecha Actividad 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498080" y="32186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Fecha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89320" y="3566160"/>
            <a:ext cx="2788920" cy="384048"/>
          </a:xfrm>
          <a:prstGeom prst="rect">
            <a:avLst/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36027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Requiere Fecha 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36027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Checkbox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80760" y="3986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240"/>
                </a:solidFill>
              </a:rPr>
              <a:t>Fecha Actividad 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498080" y="3986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Fecha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BIBLIOTECA DE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Asignar Documentos a un Evento Especial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Una vez creados los documentos en la biblioteca, el siguiente paso es asignarlos al evento: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438912" cy="43891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3502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Editar el Evento Especial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Ir al listado de Eventos → botón editar (ícono lápiz). El evento debe estar marcado como Especial.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841248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438912" cy="43891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20370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Ir a la sección Documentos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532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Dentro del formulario del evento, localizar la sección "Documentos para Colaboradores".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438912" cy="43891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07238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Marcar los documentos a asignar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4015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 la lista de documentos ACTIVOS disponibles, marcar los que aplican para este evento.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867912"/>
            <a:ext cx="841248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438912" cy="438912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410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Guardar el evento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2702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Los documentos quedan asociados. Los colaboradores que se registren los verán y deberán aceptarlos.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FEF3C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240"/>
                </a:solidFill>
              </a:rPr>
              <a:t>💡  Solo los documentos en estado ACTIVO aparecen disponibles para asignar.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BIBLIOTECA DE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Flujo del Colaborador en el Registro Público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Esto es lo que experimenta el colaborador al registrarse en el formulario público: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CF5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12435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Llena datos personales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508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Nombre, documento, fecha de nacimiento, etc.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8412480" cy="594360"/>
          </a:xfrm>
          <a:prstGeom prst="rect">
            <a:avLst/>
          </a:prstGeom>
          <a:solidFill>
            <a:srgbClr val="F4F6FC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CF5"/>
                </a:solidFill>
              </a:rPr>
              <a:t>▼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19476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Marca ser Colaborador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2128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Activa la casilla "Quiero ser Colaborador / Voluntario" y selecciona su parroquia de apoyo.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426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319125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CF5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Lee los documentos requeridos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91693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 despliega cada documento. Debe hacer clic en "Ver documento" y luego marcar la casilla de aceptación.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00984"/>
            <a:ext cx="8412480" cy="594360"/>
          </a:xfrm>
          <a:prstGeom prst="rect">
            <a:avLst/>
          </a:prstGeom>
          <a:solidFill>
            <a:srgbClr val="F4F6FC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467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389534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CF5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" y="3355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Elige fecha de participación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62102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 el documento tiene dos fechas disponibles, selecciona en cuál puede participar.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05072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507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40599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240"/>
                </a:solidFill>
              </a:rPr>
              <a:t>Envía el formulario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32511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 sistema valida edad (≥18), que todos los documentos estén aceptados y fechas seleccionadas.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240"/>
                </a:solidFill>
              </a:rPr>
              <a:t>BIBLIOTECA DE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94560" y="91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Protecciones y Trazabilidad de los Documentos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El sistema protege la integridad de los documentos y mantiene un historial de cambios: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40690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Protección contra eliminación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240"/>
                </a:solidFill>
              </a:rPr>
              <a:t>Si un documento está asignado a uno o más eventos, el botón de eliminar se reemplaza por un candado.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240"/>
                </a:solidFill>
              </a:rPr>
              <a:t>Al intentar eliminar, el sistema muestra qué eventos lo están usando.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254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240"/>
                </a:solidFill>
              </a:rPr>
              <a:t>Para poder eliminarlo, primero hay que desasignarlo de todos los eventos.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0690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34440"/>
            <a:ext cx="4069080" cy="43891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344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Trazabilidad de cambios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240"/>
                </a:solidFill>
              </a:rPr>
              <a:t>Cada documento muestra quién lo creó (con ícono verde ✚).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30428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240"/>
                </a:solidFill>
              </a:rPr>
              <a:t>Si fue editado por alguien diferente al creador, aparece el nombre del último editor (con ícono lápiz).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8254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240"/>
                </a:solidFill>
              </a:rPr>
              <a:t>También se muestra la fecha de creación del documento.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solidFill>
            <a:srgbClr val="071B7D"/>
          </a:solidFill>
          <a:ln w="12700">
            <a:solidFill>
              <a:srgbClr val="071B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Guía de íconos en la tabla de documentos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4069080" cy="347472"/>
          </a:xfrm>
          <a:prstGeom prst="rect">
            <a:avLst/>
          </a:prstGeom>
          <a:solidFill>
            <a:srgbClr val="F4F6FC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50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240"/>
                </a:solidFill>
              </a:rPr>
              <a:t>🔗  N evento(s)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050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 documento está asignado a N eventos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4023360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50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240"/>
                </a:solidFill>
              </a:rPr>
              <a:t>🔒  (botón)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40507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se puede eliminar – está en uso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434840"/>
            <a:ext cx="4069080" cy="347472"/>
          </a:xfrm>
          <a:prstGeom prst="rect">
            <a:avLst/>
          </a:prstGeom>
          <a:solidFill>
            <a:srgbClr val="F4F6FC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240"/>
                </a:solidFill>
              </a:rPr>
              <a:t>🗑️  (botón rojo)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4462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Eliminar disponible – no está asignado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4434840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462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240"/>
                </a:solidFill>
              </a:rPr>
              <a:t>✏️  (botón naranja)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4462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Editar documento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B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0876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74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240"/>
                </a:solidFill>
              </a:rPr>
              <a:t>¡Listo para gestionar los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D1240"/>
                </a:solidFill>
              </a:rPr>
              <a:t>nuevos módulos!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20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AECF"/>
                </a:solidFill>
              </a:rPr>
              <a:t>Recuerda: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Marcar el evento como Especial antes de asignar documentos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4187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Crear los documentos en la Biblioteca primero, luego asignarlos al evento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44622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Los colaboradores deben ser mayores de 18 años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40"/>
                </a:solidFill>
              </a:rPr>
              <a:t>Sistema SRM · Iglesia  ·  Módulos nuevos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Administración – Módulos Nuevos SRM</dc:title>
  <dc:subject>PptxGenJS Presentation</dc:subject>
  <dc:creator>PptxGenJS</dc:creator>
  <cp:lastModifiedBy>PptxGenJS</cp:lastModifiedBy>
  <cp:revision>1</cp:revision>
  <dcterms:created xsi:type="dcterms:W3CDTF">2026-05-21T03:11:57Z</dcterms:created>
  <dcterms:modified xsi:type="dcterms:W3CDTF">2026-05-21T03:11:57Z</dcterms:modified>
</cp:coreProperties>
</file>